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F1F5F9"/>
                </a:solidFill>
              </a:defRPr>
            </a:pPr>
            <a:r>
              <a:t>GlycoTwin-AI: End-to-End Multimodal Digital Twin Architecture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Happiest Health Reimagining &amp; Reforming Healthcare Summit 2026 • Proactive Diabetes Prevention in India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560320" cy="5120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228600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38BDF8"/>
                </a:solidFill>
              </a:defRPr>
            </a:pPr>
            <a:r>
              <a:t>1. DUAL DATA STREAMS</a:t>
            </a:r>
          </a:p>
          <a:p>
            <a:pPr>
              <a:spcAft>
                <a:spcPts val="800"/>
              </a:spcAft>
              <a:defRPr sz="850">
                <a:solidFill>
                  <a:srgbClr val="94A3B8"/>
                </a:solidFill>
              </a:defRPr>
            </a:pPr>
            <a:r>
              <a:t>DPDP Act 2023 &amp; HIPAA Sandbox</a:t>
            </a:r>
          </a:p>
          <a:p>
            <a:pPr>
              <a:defRPr b="1" sz="950">
                <a:solidFill>
                  <a:srgbClr val="F1F5F9"/>
                </a:solidFill>
              </a:defRPr>
            </a:pPr>
            <a:r>
              <a:t>Static Historical EHR: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1,000 Synthea Indian Profiles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Asian Indian BMI (&gt;=23 kg/m²)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Baseline HbA1c (5.7 - 14.2%)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Fasting Blood Glucose (FBG)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eGFR &amp; Serum Creatinine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Triglycerides / HDL Profile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Comorbidities &amp; TCF7L2 gene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Baseline Pharmacotherapy</a:t>
            </a:r>
          </a:p>
          <a:p>
            <a:pPr>
              <a:defRPr sz="850">
                <a:solidFill>
                  <a:srgbClr val="94A3B8"/>
                </a:solidFill>
              </a:defRPr>
            </a:pPr>
          </a:p>
          <a:p>
            <a:pPr>
              <a:defRPr b="1" sz="950">
                <a:solidFill>
                  <a:srgbClr val="F1F5F9"/>
                </a:solidFill>
              </a:defRPr>
            </a:pPr>
            <a:r>
              <a:t>Dynamic IoT Telemetry: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60,120 Timepoints (5-min)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Interstitial Glucose (CGM)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Continuous Heart Rate (PPG)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HRV (RMSSD Autonomic tone)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Step Cadence &amp; Sleep Stages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Indian Meal Carbs &amp; Insulins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188720"/>
            <a:ext cx="2560320" cy="5120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40" y="1280160"/>
            <a:ext cx="228600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A855F7"/>
                </a:solidFill>
              </a:defRPr>
            </a:pPr>
            <a:r>
              <a:t>2. MULTIMODAL FUSION</a:t>
            </a:r>
          </a:p>
          <a:p>
            <a:pPr>
              <a:spcAft>
                <a:spcPts val="800"/>
              </a:spcAft>
              <a:defRPr sz="850">
                <a:solidFill>
                  <a:srgbClr val="94A3B8"/>
                </a:solidFill>
              </a:defRPr>
            </a:pPr>
            <a:r>
              <a:t>Cross-Domain Feature Synthesis</a:t>
            </a:r>
          </a:p>
          <a:p>
            <a:pPr>
              <a:defRPr b="1" sz="950">
                <a:solidFill>
                  <a:srgbClr val="F1F5F9"/>
                </a:solidFill>
              </a:defRPr>
            </a:pPr>
            <a:r>
              <a:t>Temporal Dynamic Kinetics: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Glucose Velocity dG/dt (15/30m)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Glycemic Acceleration d²G/dt²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Rolling Mean &amp; Std (1h / 3h)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Intraday CV% Volatility</a:t>
            </a:r>
          </a:p>
          <a:p>
            <a:pPr>
              <a:defRPr sz="850">
                <a:solidFill>
                  <a:srgbClr val="94A3B8"/>
                </a:solidFill>
              </a:defRPr>
            </a:pPr>
          </a:p>
          <a:p>
            <a:pPr>
              <a:defRPr b="1" sz="950">
                <a:solidFill>
                  <a:srgbClr val="F1F5F9"/>
                </a:solidFill>
              </a:defRPr>
            </a:pPr>
            <a:r>
              <a:t>Autonomic Coupling: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Autonomic Stress: HR / HRV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Pre-hypo Sympathetic Surge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1-Hour Step Accumulation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2-Hour Carbohydrate Load</a:t>
            </a:r>
          </a:p>
          <a:p>
            <a:pPr>
              <a:defRPr sz="850">
                <a:solidFill>
                  <a:srgbClr val="94A3B8"/>
                </a:solidFill>
              </a:defRPr>
            </a:pPr>
          </a:p>
          <a:p>
            <a:pPr>
              <a:defRPr b="1" sz="950">
                <a:solidFill>
                  <a:srgbClr val="F1F5F9"/>
                </a:solidFill>
              </a:defRPr>
            </a:pPr>
            <a:r>
              <a:t>Latent Patient Embedding: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Asian Indian Metabolic Profile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Trigonometric Circadian Wave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Beta-Cell Reserve Proxy</a:t>
            </a:r>
          </a:p>
          <a:p>
            <a:pPr>
              <a:defRPr b="1" sz="950">
                <a:solidFill>
                  <a:srgbClr val="34D399"/>
                </a:solidFill>
              </a:defRPr>
            </a:pPr>
            <a:r>
              <a:t>★ 42 Multimodal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2560320" cy="5120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280160"/>
            <a:ext cx="228600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34D399"/>
                </a:solidFill>
              </a:defRPr>
            </a:pPr>
            <a:r>
              <a:t>3. DUAL-HEAD AI CORE</a:t>
            </a:r>
          </a:p>
          <a:p>
            <a:pPr>
              <a:spcAft>
                <a:spcPts val="800"/>
              </a:spcAft>
              <a:defRPr sz="850">
                <a:solidFill>
                  <a:srgbClr val="94A3B8"/>
                </a:solidFill>
              </a:defRPr>
            </a:pPr>
            <a:r>
              <a:t>Prediction &amp; In-Silico Engine</a:t>
            </a:r>
          </a:p>
          <a:p>
            <a:pPr>
              <a:defRPr b="1" sz="950">
                <a:solidFill>
                  <a:srgbClr val="F1F5F9"/>
                </a:solidFill>
              </a:defRPr>
            </a:pPr>
            <a:r>
              <a:t>Head 1: 2h Glucose Forecaster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HistGBM Multi-Tree Regressor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2-Hour Horizon (+120 mins)</a:t>
            </a:r>
          </a:p>
          <a:p>
            <a:pPr>
              <a:defRPr b="1" sz="950">
                <a:solidFill>
                  <a:srgbClr val="34D399"/>
                </a:solidFill>
              </a:defRPr>
            </a:pPr>
            <a:r>
              <a:t>★ MARD: 7.15% (Gold Std &lt;10%)</a:t>
            </a:r>
          </a:p>
          <a:p>
            <a:pPr>
              <a:defRPr b="1" sz="950">
                <a:solidFill>
                  <a:srgbClr val="34D399"/>
                </a:solidFill>
              </a:defRPr>
            </a:pPr>
            <a:r>
              <a:t>★ RMSE: 14.50 mg/dL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Dynamic 95% Confidence Band</a:t>
            </a:r>
          </a:p>
          <a:p>
            <a:pPr>
              <a:defRPr sz="850">
                <a:solidFill>
                  <a:srgbClr val="94A3B8"/>
                </a:solidFill>
              </a:defRPr>
            </a:pPr>
          </a:p>
          <a:p>
            <a:pPr>
              <a:defRPr b="1" sz="950">
                <a:solidFill>
                  <a:srgbClr val="F1F5F9"/>
                </a:solidFill>
              </a:defRPr>
            </a:pPr>
            <a:r>
              <a:t>Head 2: Adverse Classifier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Severe Postprandial Hyper (&gt;200)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Precision = 65.31%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Nocturnal Hypoglycemia (&lt;70)</a:t>
            </a:r>
          </a:p>
          <a:p>
            <a:pPr>
              <a:defRPr b="1" sz="950">
                <a:solidFill>
                  <a:srgbClr val="F1F5F9"/>
                </a:solidFill>
              </a:defRPr>
            </a:pPr>
            <a:r>
              <a:t>  Early Warning: 120 mins</a:t>
            </a:r>
          </a:p>
          <a:p>
            <a:pPr>
              <a:defRPr sz="850">
                <a:solidFill>
                  <a:srgbClr val="94A3B8"/>
                </a:solidFill>
              </a:defRPr>
            </a:pPr>
          </a:p>
          <a:p>
            <a:pPr>
              <a:defRPr sz="850">
                <a:solidFill>
                  <a:srgbClr val="94A3B8"/>
                </a:solidFill>
              </a:defRPr>
            </a:pPr>
            <a:r>
              <a:t>In-Silico What-If Simulator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Post-Meal Walk (0-45 mins)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Carb Swap (-10 to -60g)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Basal Titration (-4U to +4U)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1188720"/>
            <a:ext cx="2560320" cy="5120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20" y="1280160"/>
            <a:ext cx="228600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FBBF24"/>
                </a:solidFill>
              </a:defRPr>
            </a:pPr>
            <a:r>
              <a:t>4. CLINICIAN COCKPIT</a:t>
            </a:r>
          </a:p>
          <a:p>
            <a:pPr>
              <a:spcAft>
                <a:spcPts val="800"/>
              </a:spcAft>
              <a:defRPr sz="850">
                <a:solidFill>
                  <a:srgbClr val="94A3B8"/>
                </a:solidFill>
              </a:defRPr>
            </a:pPr>
            <a:r>
              <a:t>Interactive Doctor Dashboard</a:t>
            </a:r>
          </a:p>
          <a:p>
            <a:pPr>
              <a:defRPr b="1" sz="950">
                <a:solidFill>
                  <a:srgbClr val="F1F5F9"/>
                </a:solidFill>
              </a:defRPr>
            </a:pPr>
            <a:r>
              <a:t>Clinical Web Interface: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Virtual Patient Selector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Static EHR Profile Cards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6h Multi-stream Waveforms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2h Forward Projection Band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Dynamic Triage Risk Light</a:t>
            </a:r>
          </a:p>
          <a:p>
            <a:pPr>
              <a:defRPr sz="850">
                <a:solidFill>
                  <a:srgbClr val="94A3B8"/>
                </a:solidFill>
              </a:defRPr>
            </a:pPr>
          </a:p>
          <a:p>
            <a:pPr>
              <a:defRPr b="1" sz="950">
                <a:solidFill>
                  <a:srgbClr val="F1F5F9"/>
                </a:solidFill>
              </a:defRPr>
            </a:pPr>
            <a:r>
              <a:t>Physician Interactivity: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Real-time What-If Sliders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Dynamic Delta Metric Output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In-Silico Trajectory Overlay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RSSDI &amp; ADA Decision Support</a:t>
            </a:r>
          </a:p>
          <a:p>
            <a:pPr>
              <a:defRPr sz="850">
                <a:solidFill>
                  <a:srgbClr val="94A3B8"/>
                </a:solidFill>
              </a:defRPr>
            </a:pPr>
          </a:p>
          <a:p>
            <a:pPr>
              <a:defRPr b="1" sz="950">
                <a:solidFill>
                  <a:srgbClr val="F1F5F9"/>
                </a:solidFill>
              </a:defRPr>
            </a:pPr>
            <a:r>
              <a:t>Explainable AI (XAI):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Physiological Root-Cause XAI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• Autonomic Crash Alerts</a:t>
            </a:r>
          </a:p>
          <a:p>
            <a:pPr>
              <a:defRPr b="1" sz="950">
                <a:solidFill>
                  <a:srgbClr val="34D399"/>
                </a:solidFill>
              </a:defRPr>
            </a:pPr>
            <a:r>
              <a:t>★ FastAPI + Chart.js Web 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