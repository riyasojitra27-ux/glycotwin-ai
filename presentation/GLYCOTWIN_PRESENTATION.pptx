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4415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8BDF8"/>
                </a:solidFill>
                <a:latin typeface="Arial"/>
              </a:defRPr>
            </a:pPr>
            <a:r>
              <a:t>GlycoTwin-AI: Multimodal Digital Twin for Proactive Diabetes Management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Happiest Health Reimagining &amp; Reforming Healthcare in India Summit 2026,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Track: Digital Twin Proof-of-Concept (PoC) Challenge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Focus Condition: Type 2 Diabetes Mellitus &amp; Postprandial/Nocturnal Dysglycemia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Target Population: Asian Indian Phenotype (&gt;101M Diabetics, high carb staple diets)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Core Innovation: In-silico physiological twin fusing static EHR with wearable CGM/PPG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Key Capability: 2-Hour ahead adverse event prediction &amp; What-If counterfactual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Team GlycoTwin India • Center for Healthcare AI &amp; Innovation  |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4415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8BDF8"/>
                </a:solidFill>
                <a:latin typeface="Arial"/>
              </a:defRPr>
            </a:pPr>
            <a:r>
              <a:t>The Indian Diabetes Crisis: Why Reactive Healthcare Fails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ICMR-INDIAB 2023 Epidemiological Context &amp; Clinical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101.3 Million Diabetics + 136 Million Pre-diabetics in India ('Diabetes Capital of the World')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Asian Indian Phenotype: High visceral fat &amp; severe insulin resistance at lower BMI (&gt;= 23 kg/m²)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Dietary Trap: Refined rice/wheat staples cause massive postprandial glucose surges (&gt;200 mg/dL)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Silent Danger: Nocturnal hypoglycemia (&lt;70 mg/dL) during sleep causes fatal cardiac arrhythmias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Reactive Failure: Quarterly HbA1c tests are 3-month trailing averages; they miss intraday volatility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Solution: Continuous Digital Twin providing real-time in-silico simulation &amp; proactive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Clinical Background • Slide 2 of 10  |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4415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8BDF8"/>
                </a:solidFill>
                <a:latin typeface="Arial"/>
              </a:defRPr>
            </a:pPr>
            <a:r>
              <a:t>Dual Data Stream Fusion Architecture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Synthesizing Static Clinical Records with High-Frequency Wearable IoT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Stream 1 (Static EHR): Demographics, Asian Indian BMI, baseline HbA1c, eGFR, lipid profile, comorbidities, TCF7L2 genetic risk, &amp; baseline medications.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Stream 2 (Dynamic IoT Wearables): 5-minute CGM interstitial glucose, continuous Heart Rate (bpm), HRV (RMSSD autonomic tone), step cadence, sleep stages, &amp; Indian meal carbs (g).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Feature Synthesis: 42 kinetic &amp; cross-domain features including velocity (dG/dt), acceleration (d²G/dt²), intraday CV% volatility, and autonomic stress coupling (HR / HRV ratio).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Compliance: 100% compliant with Indian DPDP Act 2023 &amp; HIPAA sandbox regulations (Zero PII).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 Architecture • Slide 3 of 10  |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4415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8BDF8"/>
                </a:solidFill>
                <a:latin typeface="Arial"/>
              </a:defRPr>
            </a:pPr>
            <a:r>
              <a:t>Dual-Head Machine Learning Core &amp; Clinical Metrics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Clinical Validation on Unseen Patient Test Cohorts (Zero Patient Leakage)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Continuous Regressor (2-Hour Horizon Forecast):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MARD (Mean Absolute Relative Difference): 7.15% (Gold standard clinical threshold &lt; 10%)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RMSE: 14.50 mg/dL | MAE: 11.11 mg/dL across 59,940 high-resolution multimodal records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Generates dynamic 95% confidence bounds reflecting biological uncertainty</a:t>
            </a:r>
          </a:p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Adverse Event Classifier (Early Warning Lead Time: 120 minutes):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Severe Postprandial Hyperglycemia Spike (&gt;200 mg/dL): Precision = 65.31%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Impending Nocturnal Hypoglycemia (&lt;70 mg/dL): Calibrated safety decision threshold (18%)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Macro F1: 0.54 | Patient-stratified holdout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Model Evaluation • Slide 4 of 10  |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4415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8BDF8"/>
                </a:solidFill>
                <a:latin typeface="Arial"/>
              </a:defRPr>
            </a:pPr>
            <a:r>
              <a:t>Physician 'What-If' In-Silico Counterfactual Simulator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Empowering Doctors to Test Interventions Digitally Before Clinical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Clinical Need: Physicians cannot conduct risky trial-and-error experiments on living patients.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Digital Twin Sandbox: Simulates three high-impact clinical interventions in real time (&lt;50ms):</a:t>
            </a:r>
          </a:p>
          <a:p>
            <a:pPr lvl="1">
              <a:spcAft>
                <a:spcPts val="1000"/>
              </a:spcAft>
              <a:defRPr sz="1300">
                <a:solidFill>
                  <a:srgbClr val="FDE68A"/>
                </a:solidFill>
                <a:latin typeface="Arial"/>
              </a:defRPr>
            </a:pPr>
            <a:r>
              <a:t>   1. Post-Prandial Brisk Walk (0 to 45 mins): Simulates muscular GLUT-4 glucose clearance.</a:t>
            </a:r>
          </a:p>
          <a:p>
            <a:pPr lvl="1">
              <a:spcAft>
                <a:spcPts val="1000"/>
              </a:spcAft>
              <a:defRPr sz="1300">
                <a:solidFill>
                  <a:srgbClr val="FDE68A"/>
                </a:solidFill>
                <a:latin typeface="Arial"/>
              </a:defRPr>
            </a:pPr>
            <a:r>
              <a:t>   2. Indian Carb Swap / Reduction (0 to 60g): Models switching white rice to millets/proteins.</a:t>
            </a:r>
          </a:p>
          <a:p>
            <a:pPr lvl="1">
              <a:spcAft>
                <a:spcPts val="1000"/>
              </a:spcAft>
              <a:defRPr sz="1300">
                <a:solidFill>
                  <a:srgbClr val="FDE68A"/>
                </a:solidFill>
                <a:latin typeface="Arial"/>
              </a:defRPr>
            </a:pPr>
            <a:r>
              <a:t>   3. Medication Adjustment (-4U to +4U): Titrates basal insulin or shifts sulfonylurea timing.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Instant Feedback: Re-renders simulated counterfactual trajectory vs. baseline projection curve, calculating exact projected glucose delta (mg/dL) and RSSDI/ADA clinical guidance.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Counterfactual Simulation • Slide 5 of 10  |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4415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8BDF8"/>
                </a:solidFill>
                <a:latin typeface="Arial"/>
              </a:defRPr>
            </a:pPr>
            <a:r>
              <a:t>Clinician Digital Twin Cockpit UI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Human-in-the-Loop Web Platform for Proactive Patient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Full-Featured Glassmorphic Web App: Built with FastAPI, Tailwind CSS, &amp; Chart.js.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Live Telemetry Waveforms: Synchronized visualization of CGM, Heart Rate, HRV, steps, &amp; meals.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Triage Early Warning System: Color-coded alert badges (Green = Stable, Amber = Hyper, Red = Hypo).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Explainable AI (XAI) Drawer: Physiological root-cause attributions explain why alerts fired.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Interactive Simulator Panel: Direct slider controls for walking, carb reduction, and insulin titration.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Automated AI Presentation Tour: Built-in teleprompter HUD with optional AI voiceover.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User Interface &amp; Experience • Slide 6 of 10  |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4415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8BDF8"/>
                </a:solidFill>
                <a:latin typeface="Arial"/>
              </a:defRPr>
            </a:pPr>
            <a:r>
              <a:t>Clinical Walkthrough: Two Real-World Scenarios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Proactive Intervention in Indian Patient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Scenario A (Postprandial Hyperglycemia - Patient IND-PT-10007):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54y male, Rice staple diet, baseline HbA1c 9.4%. Post-lunch predicted spike: 218 mg/dL.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Doctor simulates: 20-min post-lunch walk + 35g carb reduction (foxtail millet swap).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Twin outcome: Predicted 2h glucose drops by -38 mg/dL, restoring safe in-range control (180 mg/dL).</a:t>
            </a:r>
          </a:p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Scenario B (Impending Nocturnal Hypoglycemia - Patient IND-PT-10004):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59y female on basal insulin (22U). Twin detects 02:30 AM autonomic crash (HRV drops to 14ms).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Twin flags impending 04:30 AM hypo crash (61 mg/dL) 2 hours in advance.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Doctor simulates: Titrate evening basal insulin by -3U + bedtime snack -&gt; Crash averted.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Clinical Validation • Slide 7 of 10  |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4415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8BDF8"/>
                </a:solidFill>
                <a:latin typeface="Arial"/>
              </a:defRPr>
            </a:pPr>
            <a:r>
              <a:t>DPDP Act 2023 &amp; HIPAA Compliance Architecture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Patient Privacy, Synthetic Data Integrity &amp; Regulatory Sandbox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Indian DPDP Act 2023 Compliance: Fully synthetic patient cohorts adhering to national privacy standards.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Zero Real Patient PII: Synthetic identities (IND-PT-XXXXX) generated with authentic clinical distributions.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Synthea &amp; MIMIC-IV Standard Schema: Statistically verified against ICMR-INDIAB epidemiological metrics.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Data Leakage Protection: Strict patient-level train/test separation prevents data memorization.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Audit Logging: Every in-silico simulation and decision recommendation is timestamped and cryptographically logged.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Regulatory Compliance • Slide 8 of 10  |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4415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8BDF8"/>
                </a:solidFill>
                <a:latin typeface="Arial"/>
              </a:defRPr>
            </a:pPr>
            <a:r>
              <a:t>Socioeconomic Impact &amp; Indian Healthcare Deployment Roadmap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From University Incubator Prototype to Ayushman Bharat Digital Mission (ABDM)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Economic Impact: Avoids ₹40,000 - ₹1,50,000 emergency admissions for DKA and severe hypoglycemia.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Long-Term Prevention: Blunting glycemic spikes reduces HbA1c by 0.8-1.2%, cutting microvascular complications by 37%.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Integration Roadmap: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Phase 1 (Now): Working Digital Twin PoC, multimodal predictive engine &amp; doctor cockpit.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Phase 2 (Summit Final): Hardware integration with commercial CGMs (Abbott FreeStyle Libre) &amp; wearables.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Phase 3 (Clinical Pilot): FHIR API integration into Ayushman Bharat Digital Mission (ABDM) &amp; e-Sanjeevani.</a:t>
            </a:r>
          </a:p>
          <a:p>
            <a:pPr lvl="1"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• Phase 4 (Edge AI): Mobile companion app providing real-time personalized patient nudges.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Deployment Roadmap • Slide 9 of 10  |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4415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8BDF8"/>
                </a:solidFill>
                <a:latin typeface="Arial"/>
              </a:defRPr>
            </a:pPr>
            <a:r>
              <a:t>Conclusion &amp; Competitive Summary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Happiest Health Reimagining and Reforming Healthcare Summit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Accomplished: Selected #1 Indian healthcare priority (Type 2 Diabetes) &amp; delivered an end-to-end Digital Twin.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Dual Data Fusion: Seamlessly unites static clinical EHR with high-resolution wearable telemetry.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Clinical Grade Accuracy: 7.15% MARD and 120-minute lead time on acute dysglycemic adverse events.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Doctor-Centric Innovation: In-silico 'What-If' counterfactual engine transforms reactive care into proactive prevention.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Deliverables: Complete open-source codebase (MIT), interactive UI, architecture diagrams, and 20-min demo video.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Vision: Building the proactive foundation for Indian digital healthcare.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Thank You • Happiest Health Summit 2026 Bengaluru  |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