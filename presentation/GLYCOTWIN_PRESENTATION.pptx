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914400"/>
            <a:ext cx="10545775" cy="50292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9601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48CAE4"/>
                </a:solidFill>
                <a:latin typeface="Arial"/>
              </a:defRPr>
            </a:pPr>
            <a:r>
              <a:t>HAPPIEST HEALTH REIMAGINING &amp; REFORMING HEALTHCARE IN INDIA SUMMIT 2026, BENGALURU</a:t>
            </a:r>
          </a:p>
          <a:p>
            <a:pPr>
              <a:spcAft>
                <a:spcPts val="800"/>
              </a:spcAft>
              <a:defRPr sz="3800" b="1">
                <a:solidFill>
                  <a:srgbClr val="FFFFFF"/>
                </a:solidFill>
                <a:latin typeface="Arial"/>
              </a:defRPr>
            </a:pPr>
            <a:r>
              <a:t>GlycoTwin-AI</a:t>
            </a:r>
          </a:p>
          <a:p>
            <a:pPr>
              <a:spcAft>
                <a:spcPts val="1800"/>
              </a:spcAft>
              <a:defRPr sz="1800" b="1">
                <a:solidFill>
                  <a:srgbClr val="FFD166"/>
                </a:solidFill>
                <a:latin typeface="Arial"/>
              </a:defRPr>
            </a:pPr>
            <a:r>
              <a:t>Multimodal Healthcare Digital Twin for Proactive Type 2 Diabetes Management in India</a:t>
            </a:r>
          </a:p>
          <a:p>
            <a:pPr>
              <a:spcAft>
                <a:spcPts val="2400"/>
              </a:spcAft>
              <a:defRPr sz="1350">
                <a:solidFill>
                  <a:srgbClr val="8D99AE"/>
                </a:solidFill>
                <a:latin typeface="Arial"/>
              </a:defRPr>
            </a:pPr>
            <a:r>
              <a:t>A dynamic virtual physiological replica fusing static EHR with continuous wearable IoT telemetry (CGM + PPG) to predict acute dysglycemic adverse events 2 hours in advance and simulate personalized interventions in-silico.</a:t>
            </a:r>
          </a:p>
          <a:p>
            <a:pPr>
              <a:defRPr sz="1200" b="1">
                <a:solidFill>
                  <a:srgbClr val="06D6A0"/>
                </a:solidFill>
                <a:latin typeface="Arial"/>
              </a:defRPr>
            </a:pPr>
            <a:r>
              <a:t>Track: Digital Twin PoC Challenge  |  Team GlycoTwin India  |  Center for Healthcare AI &amp; Innovation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69663" cy="329184"/>
          </a:xfrm>
          <a:prstGeom prst="round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48CAE4"/>
                </a:solidFill>
                <a:latin typeface="Arial"/>
              </a:defRPr>
            </a:pPr>
            <a:r>
              <a:t>CLINICAL PROBLEM &amp; INDIAN EPIDEMIOLOGY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rial"/>
              </a:defRPr>
            </a:pPr>
            <a:r>
              <a:t>The Indian Diabetes Crisis: Why Reactive Care Fails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8D99AE"/>
                </a:solidFill>
                <a:latin typeface="Arial"/>
              </a:defRPr>
            </a:pPr>
            <a:r>
              <a:t>GlycoTwin-AI  |  Happiest Health Summit 2026, Bengaluru  |  Slide 2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663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4709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D166"/>
                </a:solidFill>
                <a:latin typeface="Arial"/>
              </a:defRPr>
            </a:pPr>
            <a:r>
              <a:t>The Asian Indian Phenotype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4709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48CAE4"/>
                </a:solidFill>
                <a:latin typeface="Arial"/>
              </a:rPr>
              <a:t>• 101.3M Diagnosed Diabetics: </a:t>
            </a:r>
            <a:r>
              <a:rPr sz="1200">
                <a:solidFill>
                  <a:srgbClr val="FFFFFF"/>
                </a:solidFill>
                <a:latin typeface="Arial"/>
              </a:rPr>
              <a:t>ICMR-INDIAB 2023 study confirms India as the global epicentre of diabetes, with 136M additional pre-diabetics.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48CAE4"/>
                </a:solidFill>
                <a:latin typeface="Arial"/>
              </a:rPr>
              <a:t>• Asian Indian Phenotype: </a:t>
            </a:r>
            <a:r>
              <a:rPr sz="1200">
                <a:solidFill>
                  <a:srgbClr val="FFFFFF"/>
                </a:solidFill>
                <a:latin typeface="Arial"/>
              </a:rPr>
              <a:t>Excess visceral adiposity, hyperinsulinemia, and profound insulin resistance at lower BMI cutoffs (&gt;= 23 kg/m²).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48CAE4"/>
                </a:solidFill>
                <a:latin typeface="Arial"/>
              </a:rPr>
              <a:t>• Dietary Glycemic Volatility: </a:t>
            </a:r>
            <a:r>
              <a:rPr sz="1200">
                <a:solidFill>
                  <a:srgbClr val="FFFFFF"/>
                </a:solidFill>
                <a:latin typeface="Arial"/>
              </a:rPr>
              <a:t>Staple diets of refined white rice and wheat flour cause steep postprandial glucose surges (&gt;200 mg/dL).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48CAE4"/>
                </a:solidFill>
                <a:latin typeface="Arial"/>
              </a:rPr>
              <a:t>• Lethal Nocturnal Hypo: </a:t>
            </a:r>
            <a:r>
              <a:rPr sz="1200">
                <a:solidFill>
                  <a:srgbClr val="FFFFFF"/>
                </a:solidFill>
                <a:latin typeface="Arial"/>
              </a:rPr>
              <a:t>Sulfonylurea/insulin use and erratic meal times cause dangerous 02:00-04:30 AM crashes (&lt;70 mg/dL) during sleep.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54480"/>
            <a:ext cx="51663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19072"/>
            <a:ext cx="4709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48CAE4"/>
                </a:solidFill>
                <a:latin typeface="Arial"/>
              </a:defRPr>
            </a:pPr>
            <a:r>
              <a:t>Why Traditional Reactive Medicine Fails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48840"/>
            <a:ext cx="4709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Quarterly HbA1c Blindspot: </a:t>
            </a:r>
            <a:r>
              <a:rPr sz="1200">
                <a:solidFill>
                  <a:srgbClr val="FFFFFF"/>
                </a:solidFill>
                <a:latin typeface="Arial"/>
              </a:rPr>
              <a:t>HbA1c is a 3-month trailing average that completely masks intraday glycemic volatility and lethal nocturnal crashes.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Post-Hoc Intervention: </a:t>
            </a:r>
            <a:r>
              <a:rPr sz="1200">
                <a:solidFill>
                  <a:srgbClr val="FFFFFF"/>
                </a:solidFill>
                <a:latin typeface="Arial"/>
              </a:rPr>
              <a:t>Current standard of care alerts patients after hypoglycemia has occurred, leading to acute disorientation and ER visits.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Crippling Family Costs: </a:t>
            </a:r>
            <a:r>
              <a:rPr sz="1200">
                <a:solidFill>
                  <a:srgbClr val="FFFFFF"/>
                </a:solidFill>
                <a:latin typeface="Arial"/>
              </a:rPr>
              <a:t>Emergency admissions for DKA or severe hypoglycemia cost Indian families ₹40,000 to ₹1,50,000 out-of-pocket.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The Digital Twin Solution: </a:t>
            </a:r>
            <a:r>
              <a:rPr sz="1200">
                <a:solidFill>
                  <a:srgbClr val="FFFFFF"/>
                </a:solidFill>
                <a:latin typeface="Arial"/>
              </a:rPr>
              <a:t>Moving from reactive treatment to proactive in-silico simulation, predicting adverse excursions 2 hours ahead.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059935" cy="329184"/>
          </a:xfrm>
          <a:prstGeom prst="round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48CAE4"/>
                </a:solidFill>
                <a:latin typeface="Arial"/>
              </a:defRPr>
            </a:pPr>
            <a:r>
              <a:t>DATA ARCHITECTURE &amp; MULTIMODAL 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rial"/>
              </a:defRPr>
            </a:pPr>
            <a:r>
              <a:t>Dual Data Stream Fusion: Static EHR + Wearable IoT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8D99AE"/>
                </a:solidFill>
                <a:latin typeface="Arial"/>
              </a:defRPr>
            </a:pPr>
            <a:r>
              <a:t>GlycoTwin-AI  |  Happiest Health Summit 2026, Bengaluru  |  Slide 3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663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4709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48CAE4"/>
                </a:solidFill>
                <a:latin typeface="Arial"/>
              </a:defRPr>
            </a:pPr>
            <a:r>
              <a:t>Stream 1: Static Historical EHR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4709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48CAE4"/>
                </a:solidFill>
                <a:latin typeface="Arial"/>
              </a:rPr>
              <a:t>• 1,000 Synthea Indian Patients: </a:t>
            </a:r>
            <a:r>
              <a:rPr sz="1200">
                <a:solidFill>
                  <a:srgbClr val="FFFFFF"/>
                </a:solidFill>
                <a:latin typeface="Arial"/>
              </a:rPr>
              <a:t>Synthesized EHR database adhering to ICMR-INDIAB clinical distributions with complete demographic representation.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48CAE4"/>
                </a:solidFill>
                <a:latin typeface="Arial"/>
              </a:rPr>
              <a:t>• Phenotype &amp; Biomarkers: </a:t>
            </a:r>
            <a:r>
              <a:rPr sz="1200">
                <a:solidFill>
                  <a:srgbClr val="FFFFFF"/>
                </a:solidFill>
                <a:latin typeface="Arial"/>
              </a:rPr>
              <a:t>Asian Indian BMI, Waist-to-Hip Ratio, baseline HbA1c (5.7% - 14.2%), and Fasting Blood Glucose (FBG).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48CAE4"/>
                </a:solidFill>
                <a:latin typeface="Arial"/>
              </a:rPr>
              <a:t>• Renal &amp; Lipid Panels: </a:t>
            </a:r>
            <a:r>
              <a:rPr sz="1200">
                <a:solidFill>
                  <a:srgbClr val="FFFFFF"/>
                </a:solidFill>
                <a:latin typeface="Arial"/>
              </a:rPr>
              <a:t>eGFR (mL/min/1.73m²), serum creatinine, triglycerides (high in Indians), HDL, and LDL cholesterol.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48CAE4"/>
                </a:solidFill>
                <a:latin typeface="Arial"/>
              </a:rPr>
              <a:t>• Genetics &amp; Comorbidities: </a:t>
            </a:r>
            <a:r>
              <a:rPr sz="1200">
                <a:solidFill>
                  <a:srgbClr val="FFFFFF"/>
                </a:solidFill>
                <a:latin typeface="Arial"/>
              </a:rPr>
              <a:t>TCF7L2 risk alleles, diabetic retinopathy, neuropathy, CVD history, and baseline pharmacotherapy (Metformin, SGLT2i, Insulin).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54480"/>
            <a:ext cx="51663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19072"/>
            <a:ext cx="4709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D166"/>
                </a:solidFill>
                <a:latin typeface="Arial"/>
              </a:defRPr>
            </a:pPr>
            <a:r>
              <a:t>Stream 2: Dynamic Wearables &amp; IoT Telemetry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48840"/>
            <a:ext cx="4709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60,120 Continuous Timepoints: </a:t>
            </a:r>
            <a:r>
              <a:rPr sz="1200">
                <a:solidFill>
                  <a:srgbClr val="FFFFFF"/>
                </a:solidFill>
                <a:latin typeface="Arial"/>
              </a:rPr>
              <a:t>14 continuous days per patient at high-frequency 5-minute intervals, modeling genuine physiological kinetics.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CGM Interstitial Glucose: </a:t>
            </a:r>
            <a:r>
              <a:rPr sz="1200">
                <a:solidFill>
                  <a:srgbClr val="FFFFFF"/>
                </a:solidFill>
                <a:latin typeface="Arial"/>
              </a:rPr>
              <a:t>Continuous glucose monitoring stream capturing interstitial diffusion dynamics and rapid glycemic slopes.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Wearable PPG Biosensors: </a:t>
            </a:r>
            <a:r>
              <a:rPr sz="1200">
                <a:solidFill>
                  <a:srgbClr val="FFFFFF"/>
                </a:solidFill>
                <a:latin typeface="Arial"/>
              </a:rPr>
              <a:t>Continuous Heart Rate (bpm) and Heart Rate Variability (HRV - RMSSD in ms) tracking autonomic nervous system tone.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Behavioral &amp; Meal Logs: </a:t>
            </a:r>
            <a:r>
              <a:rPr sz="1200">
                <a:solidFill>
                  <a:srgbClr val="FFFFFF"/>
                </a:solidFill>
                <a:latin typeface="Arial"/>
              </a:rPr>
              <a:t>5-minute step cadence, sleep stages (Deep, Light, REM), Indian carbohydrate intake (g), and insulin injection timestamps.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69663" cy="329184"/>
          </a:xfrm>
          <a:prstGeom prst="round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48CAE4"/>
                </a:solidFill>
                <a:latin typeface="Arial"/>
              </a:defRPr>
            </a:pPr>
            <a:r>
              <a:t>FEATURE ENGINEERING &amp; KINETIC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rial"/>
              </a:defRPr>
            </a:pPr>
            <a:r>
              <a:t>42 Multimodal Kinetic, Autonomic &amp; Metabolic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8D99AE"/>
                </a:solidFill>
                <a:latin typeface="Arial"/>
              </a:defRPr>
            </a:pPr>
            <a:r>
              <a:t>GlycoTwin-AI  |  Happiest Health Summit 2026, Bengaluru  |  Slide 4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3375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2880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48CAE4"/>
                </a:solidFill>
                <a:latin typeface="Arial"/>
              </a:defRPr>
            </a:pPr>
            <a:r>
              <a:t>Differential Kinetics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2971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50">
                <a:solidFill>
                  <a:srgbClr val="48CAE4"/>
                </a:solidFill>
                <a:latin typeface="Arial"/>
              </a:rPr>
              <a:t>• Rate of Change (dG/dt): </a:t>
            </a:r>
            <a:r>
              <a:rPr sz="1150">
                <a:solidFill>
                  <a:srgbClr val="FFFFFF"/>
                </a:solidFill>
                <a:latin typeface="Arial"/>
              </a:rPr>
              <a:t>15-min and 30-min glucose velocity in mg/dL/min.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48CAE4"/>
                </a:solidFill>
                <a:latin typeface="Arial"/>
              </a:rPr>
              <a:t>• Acceleration (d²G/dt²): </a:t>
            </a:r>
            <a:r>
              <a:rPr sz="1150">
                <a:solidFill>
                  <a:srgbClr val="FFFFFF"/>
                </a:solidFill>
                <a:latin typeface="Arial"/>
              </a:rPr>
              <a:t>Second derivative detecting rapid inflection points.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48CAE4"/>
                </a:solidFill>
                <a:latin typeface="Arial"/>
              </a:rPr>
              <a:t>• Intraday Volatility: </a:t>
            </a:r>
            <a:r>
              <a:rPr sz="1150">
                <a:solidFill>
                  <a:srgbClr val="FFFFFF"/>
                </a:solidFill>
                <a:latin typeface="Arial"/>
              </a:rPr>
              <a:t>1-hour and 3-hour rolling mean, std, and CV% index.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54480"/>
            <a:ext cx="33375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719072"/>
            <a:ext cx="2880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D166"/>
                </a:solidFill>
                <a:latin typeface="Arial"/>
              </a:defRPr>
            </a:pPr>
            <a:r>
              <a:t>Autonomic Stress Coupling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48840"/>
            <a:ext cx="2971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50">
                <a:solidFill>
                  <a:srgbClr val="FFD166"/>
                </a:solidFill>
                <a:latin typeface="Arial"/>
              </a:rPr>
              <a:t>• Autonomic Stress Ratio: </a:t>
            </a:r>
            <a:r>
              <a:rPr sz="1150">
                <a:solidFill>
                  <a:srgbClr val="FFFFFF"/>
                </a:solidFill>
                <a:latin typeface="Arial"/>
              </a:rPr>
              <a:t>HR / HRV RMSSD captures sympathetic surge before crash.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FD166"/>
                </a:solidFill>
                <a:latin typeface="Arial"/>
              </a:rPr>
              <a:t>• Pre-Hypo Tachycardia: </a:t>
            </a:r>
            <a:r>
              <a:rPr sz="1150">
                <a:solidFill>
                  <a:srgbClr val="FFFFFF"/>
                </a:solidFill>
                <a:latin typeface="Arial"/>
              </a:rPr>
              <a:t>Delta HR detects autonomic adrenergic counter-regulation.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FD166"/>
                </a:solidFill>
                <a:latin typeface="Arial"/>
              </a:rPr>
              <a:t>• Activity Cadence: </a:t>
            </a:r>
            <a:r>
              <a:rPr sz="1150">
                <a:solidFill>
                  <a:srgbClr val="FFFFFF"/>
                </a:solidFill>
                <a:latin typeface="Arial"/>
              </a:rPr>
              <a:t>1-hour rolling step accumulation driving muscle GLUT-4 uptake.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54480"/>
            <a:ext cx="33375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719072"/>
            <a:ext cx="2880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06D6A0"/>
                </a:solidFill>
                <a:latin typeface="Arial"/>
              </a:defRPr>
            </a:pPr>
            <a:r>
              <a:t>Latent Patient Embedding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48840"/>
            <a:ext cx="2971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50">
                <a:solidFill>
                  <a:srgbClr val="06D6A0"/>
                </a:solidFill>
                <a:latin typeface="Arial"/>
              </a:rPr>
              <a:t>• Beta-Cell Reserve: </a:t>
            </a:r>
            <a:r>
              <a:rPr sz="1150">
                <a:solidFill>
                  <a:srgbClr val="FFFFFF"/>
                </a:solidFill>
                <a:latin typeface="Arial"/>
              </a:rPr>
              <a:t>Proxy derived from T2D duration, baseline HbA1c, and insulin use.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6D6A0"/>
                </a:solidFill>
                <a:latin typeface="Arial"/>
              </a:rPr>
              <a:t>• Circadian Wave: </a:t>
            </a:r>
            <a:r>
              <a:rPr sz="1150">
                <a:solidFill>
                  <a:srgbClr val="FFFFFF"/>
                </a:solidFill>
                <a:latin typeface="Arial"/>
              </a:rPr>
              <a:t>Sin/Cos trigonometric encoding of 24h diurnal cycles.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6D6A0"/>
                </a:solidFill>
                <a:latin typeface="Arial"/>
              </a:rPr>
              <a:t>• Carbohydrate Load: </a:t>
            </a:r>
            <a:r>
              <a:rPr sz="1150">
                <a:solidFill>
                  <a:srgbClr val="FFFFFF"/>
                </a:solidFill>
                <a:latin typeface="Arial"/>
              </a:rPr>
              <a:t>2-hour rolling carb load modeling high-GI Indian digestion.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69663" cy="329184"/>
          </a:xfrm>
          <a:prstGeom prst="round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48CAE4"/>
                </a:solidFill>
                <a:latin typeface="Arial"/>
              </a:defRPr>
            </a:pPr>
            <a:r>
              <a:t>MODEL ARCHITECTURE &amp; CLINICAL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rial"/>
              </a:defRPr>
            </a:pPr>
            <a:r>
              <a:t>Dual-Head Predictive Engine &amp; Clinical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8D99AE"/>
                </a:solidFill>
                <a:latin typeface="Arial"/>
              </a:defRPr>
            </a:pPr>
            <a:r>
              <a:t>GlycoTwin-AI  |  Happiest Health Summit 2026, Bengaluru  |  Slide 5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663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4709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06D6A0"/>
                </a:solidFill>
                <a:latin typeface="Arial"/>
              </a:defRPr>
            </a:pPr>
            <a:r>
              <a:t>Head 1: 2-Hour Trajectory Regressor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4709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D6A0"/>
                </a:solidFill>
                <a:latin typeface="Arial"/>
              </a:rPr>
              <a:t>• Clinical MARD: 7.15%: </a:t>
            </a:r>
            <a:r>
              <a:rPr sz="1200">
                <a:solidFill>
                  <a:srgbClr val="FFFFFF"/>
                </a:solidFill>
                <a:latin typeface="Arial"/>
              </a:rPr>
              <a:t>Achieves 7.15% Mean Absolute Relative Difference—well below the rigorous &lt; 10% clinical gold standard benchmark.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6D6A0"/>
                </a:solidFill>
                <a:latin typeface="Arial"/>
              </a:rPr>
              <a:t>• Model RMSE: 14.50 mg/dL: </a:t>
            </a:r>
            <a:r>
              <a:rPr sz="1200">
                <a:solidFill>
                  <a:srgbClr val="FFFFFF"/>
                </a:solidFill>
                <a:latin typeface="Arial"/>
              </a:rPr>
              <a:t>Low root mean square error around continuous interstitial ground truth across 59,940 high-resolution samples.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6D6A0"/>
                </a:solidFill>
                <a:latin typeface="Arial"/>
              </a:rPr>
              <a:t>• Model MAE: 11.11 mg/dL: </a:t>
            </a:r>
            <a:r>
              <a:rPr sz="1200">
                <a:solidFill>
                  <a:srgbClr val="FFFFFF"/>
                </a:solidFill>
                <a:latin typeface="Arial"/>
              </a:rPr>
              <a:t>Demonstrates tight error bounds across extreme intraday glycemic excursions.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6D6A0"/>
                </a:solidFill>
                <a:latin typeface="Arial"/>
              </a:rPr>
              <a:t>• Dynamic 95% Confidence Band: </a:t>
            </a:r>
            <a:r>
              <a:rPr sz="1200">
                <a:solidFill>
                  <a:srgbClr val="FFFFFF"/>
                </a:solidFill>
                <a:latin typeface="Arial"/>
              </a:rPr>
              <a:t>Extrapolates upper and lower biological uncertainty envelopes over the 120-minute forward horizon.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54480"/>
            <a:ext cx="51663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19072"/>
            <a:ext cx="4709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D166"/>
                </a:solidFill>
                <a:latin typeface="Arial"/>
              </a:defRPr>
            </a:pPr>
            <a:r>
              <a:t>Head 2: Adverse Event Early Warning Classifier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48840"/>
            <a:ext cx="4709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120-Minute Early Warning: </a:t>
            </a:r>
            <a:r>
              <a:rPr sz="1200">
                <a:solidFill>
                  <a:srgbClr val="FFFFFF"/>
                </a:solidFill>
                <a:latin typeface="Arial"/>
              </a:rPr>
              <a:t>Flags adverse events 2 hours in advance, providing sufficient lead time for clinician or patient action.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Hyperglycemic Spikes (&gt;200 mg/dL): </a:t>
            </a:r>
            <a:r>
              <a:rPr sz="1200">
                <a:solidFill>
                  <a:srgbClr val="FFFFFF"/>
                </a:solidFill>
                <a:latin typeface="Arial"/>
              </a:rPr>
              <a:t>Precision = 65.31% for severe postprandial surges driven by high-carb Indian meals.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Nocturnal Hypo Early Alert (&lt;70 mg/dL): </a:t>
            </a:r>
            <a:r>
              <a:rPr sz="1200">
                <a:solidFill>
                  <a:srgbClr val="FFFFFF"/>
                </a:solidFill>
                <a:latin typeface="Arial"/>
              </a:rPr>
              <a:t>Clinical risk decision threshold (18% trigger) prioritizes patient safety against nocturnal mortality.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Patient-Level Isolation: </a:t>
            </a:r>
            <a:r>
              <a:rPr sz="1200">
                <a:solidFill>
                  <a:srgbClr val="FFFFFF"/>
                </a:solidFill>
                <a:latin typeface="Arial"/>
              </a:rPr>
              <a:t>Trained with strict stratified holdout split, guaranteeing zero data leakage across patient boundaries.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401568" cy="329184"/>
          </a:xfrm>
          <a:prstGeom prst="round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48CAE4"/>
                </a:solidFill>
                <a:latin typeface="Arial"/>
              </a:defRPr>
            </a:pPr>
            <a:r>
              <a:t>IN-SILICO COUNTERFACTUAL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rial"/>
              </a:defRPr>
            </a:pPr>
            <a:r>
              <a:t>Physician 'What-If' In-Silico Counterfactual Simulator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8D99AE"/>
                </a:solidFill>
                <a:latin typeface="Arial"/>
              </a:defRPr>
            </a:pPr>
            <a:r>
              <a:t>GlycoTwin-AI  |  Happiest Health Summit 2026, Bengaluru  |  Slide 6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3375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2880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48CAE4"/>
                </a:solidFill>
                <a:latin typeface="Arial"/>
              </a:defRPr>
            </a:pPr>
            <a:r>
              <a:t>1. Post-Meal Brisk Walk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2971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50">
                <a:solidFill>
                  <a:srgbClr val="48CAE4"/>
                </a:solidFill>
                <a:latin typeface="Arial"/>
              </a:rPr>
              <a:t>• Range: 0 to 45 mins: </a:t>
            </a:r>
            <a:r>
              <a:rPr sz="1150">
                <a:solidFill>
                  <a:srgbClr val="FFFFFF"/>
                </a:solidFill>
                <a:latin typeface="Arial"/>
              </a:rPr>
              <a:t>Simulates post-prandial walking cadence (95 steps/min).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48CAE4"/>
                </a:solidFill>
                <a:latin typeface="Arial"/>
              </a:rPr>
              <a:t>• GLUT-4 Translocation: </a:t>
            </a:r>
            <a:r>
              <a:rPr sz="1150">
                <a:solidFill>
                  <a:srgbClr val="FFFFFF"/>
                </a:solidFill>
                <a:latin typeface="Arial"/>
              </a:rPr>
              <a:t>Triggers non-insulin-mediated glucose uptake into skeletal muscles.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48CAE4"/>
                </a:solidFill>
                <a:latin typeface="Arial"/>
              </a:rPr>
              <a:t>• Clinical Impact: </a:t>
            </a:r>
            <a:r>
              <a:rPr sz="1150">
                <a:solidFill>
                  <a:srgbClr val="FFFFFF"/>
                </a:solidFill>
                <a:latin typeface="Arial"/>
              </a:rPr>
              <a:t>Blunts peak postprandial glucose excursion by 25 to 45 mg/dL.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54480"/>
            <a:ext cx="33375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719072"/>
            <a:ext cx="2880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D166"/>
                </a:solidFill>
                <a:latin typeface="Arial"/>
              </a:defRPr>
            </a:pPr>
            <a:r>
              <a:t>2. Carb Swap / Reduction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48840"/>
            <a:ext cx="2971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50">
                <a:solidFill>
                  <a:srgbClr val="FFD166"/>
                </a:solidFill>
                <a:latin typeface="Arial"/>
              </a:rPr>
              <a:t>• Range: 0 to 60 grams: </a:t>
            </a:r>
            <a:r>
              <a:rPr sz="1150">
                <a:solidFill>
                  <a:srgbClr val="FFFFFF"/>
                </a:solidFill>
                <a:latin typeface="Arial"/>
              </a:rPr>
              <a:t>Simulates swapping white polished rice for foxtail/barnyard millets.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FD166"/>
                </a:solidFill>
                <a:latin typeface="Arial"/>
              </a:rPr>
              <a:t>• Absorption Blunting: </a:t>
            </a:r>
            <a:r>
              <a:rPr sz="1150">
                <a:solidFill>
                  <a:srgbClr val="FFFFFF"/>
                </a:solidFill>
                <a:latin typeface="Arial"/>
              </a:rPr>
              <a:t>Mitigates high-GI intestinal carbohydrate absorption kinetics.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FD166"/>
                </a:solidFill>
                <a:latin typeface="Arial"/>
              </a:rPr>
              <a:t>• Clinical Impact: </a:t>
            </a:r>
            <a:r>
              <a:rPr sz="1150">
                <a:solidFill>
                  <a:srgbClr val="FFFFFF"/>
                </a:solidFill>
                <a:latin typeface="Arial"/>
              </a:rPr>
              <a:t>Flattens steep glycemic curves back into the 70-180 mg/dL safe range.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54480"/>
            <a:ext cx="33375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719072"/>
            <a:ext cx="2880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06D6A0"/>
                </a:solidFill>
                <a:latin typeface="Arial"/>
              </a:defRPr>
            </a:pPr>
            <a:r>
              <a:t>3. Basal Insulin Titration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48840"/>
            <a:ext cx="2971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50">
                <a:solidFill>
                  <a:srgbClr val="06D6A0"/>
                </a:solidFill>
                <a:latin typeface="Arial"/>
              </a:rPr>
              <a:t>• Range: -4U to +4U: </a:t>
            </a:r>
            <a:r>
              <a:rPr sz="1150">
                <a:solidFill>
                  <a:srgbClr val="FFFFFF"/>
                </a:solidFill>
                <a:latin typeface="Arial"/>
              </a:rPr>
              <a:t>Simulates basal insulin titration or sulfonylurea timing shifts.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6D6A0"/>
                </a:solidFill>
                <a:latin typeface="Arial"/>
              </a:rPr>
              <a:t>• Overnight Clearance: </a:t>
            </a:r>
            <a:r>
              <a:rPr sz="1150">
                <a:solidFill>
                  <a:srgbClr val="FFFFFF"/>
                </a:solidFill>
                <a:latin typeface="Arial"/>
              </a:rPr>
              <a:t>Recalculates nighttime basal glucose drift and beta-cell kinetics.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6D6A0"/>
                </a:solidFill>
                <a:latin typeface="Arial"/>
              </a:rPr>
              <a:t>• Clinical Impact: </a:t>
            </a:r>
            <a:r>
              <a:rPr sz="1150">
                <a:solidFill>
                  <a:srgbClr val="FFFFFF"/>
                </a:solidFill>
                <a:latin typeface="Arial"/>
              </a:rPr>
              <a:t>Averts dangerous nocturnal crashes between 02:00 AM and 04:30 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401568" cy="329184"/>
          </a:xfrm>
          <a:prstGeom prst="round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48CAE4"/>
                </a:solidFill>
                <a:latin typeface="Arial"/>
              </a:defRPr>
            </a:pPr>
            <a:r>
              <a:t>CLINICAL VALIDATION &amp;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rial"/>
              </a:defRPr>
            </a:pPr>
            <a:r>
              <a:t>Real-World Clinical Walkthrough: Indian Patient Personas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8D99AE"/>
                </a:solidFill>
                <a:latin typeface="Arial"/>
              </a:defRPr>
            </a:pPr>
            <a:r>
              <a:t>GlycoTwin-AI  |  Happiest Health Summit 2026, Bengaluru  |  Slide 7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663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4709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D166"/>
                </a:solidFill>
                <a:latin typeface="Arial"/>
              </a:defRPr>
            </a:pPr>
            <a:r>
              <a:t>Scenario A: Postprandial Spike (IND-PT-10007)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4709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Patient Profile: </a:t>
            </a:r>
            <a:r>
              <a:rPr sz="1200">
                <a:solidFill>
                  <a:srgbClr val="FFFFFF"/>
                </a:solidFill>
                <a:latin typeface="Arial"/>
              </a:rPr>
              <a:t>54y male, 9y T2D duration, baseline HbA1c 9.4%, BMI 28.2 kg/m², heavy rice staple diet.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Baseline 2h Forecast: </a:t>
            </a:r>
            <a:r>
              <a:rPr sz="1200">
                <a:solidFill>
                  <a:srgbClr val="FFFFFF"/>
                </a:solidFill>
                <a:latin typeface="Arial"/>
              </a:rPr>
              <a:t>Current glucose 185 mg/dL; Digital Twin forecasts surge to 218 mg/dL post-lunch (Amber Alert).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Doctor Simulation: </a:t>
            </a:r>
            <a:r>
              <a:rPr sz="1200">
                <a:solidFill>
                  <a:srgbClr val="FFFFFF"/>
                </a:solidFill>
                <a:latin typeface="Arial"/>
              </a:rPr>
              <a:t>Doctor tests: 20-min post-meal brisk walk + 35g carb reduction (foxtail millet substitution).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In-Silico Outcome: </a:t>
            </a:r>
            <a:r>
              <a:rPr sz="1200">
                <a:solidFill>
                  <a:srgbClr val="FFFFFF"/>
                </a:solidFill>
                <a:latin typeface="Arial"/>
              </a:rPr>
              <a:t>Simulated 2h glucose drops by -38 mg/dL to 180 mg/dL, restoring safe in-range control (70-180 mg/dL).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54480"/>
            <a:ext cx="51663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19072"/>
            <a:ext cx="4709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EF4444"/>
                </a:solidFill>
                <a:latin typeface="Arial"/>
              </a:defRPr>
            </a:pPr>
            <a:r>
              <a:t>Scenario B: Nocturnal Crash (IND-PT-10004)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48840"/>
            <a:ext cx="4709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EF4444"/>
                </a:solidFill>
                <a:latin typeface="Arial"/>
              </a:rPr>
              <a:t>• Patient Profile: </a:t>
            </a:r>
            <a:r>
              <a:rPr sz="1200">
                <a:solidFill>
                  <a:srgbClr val="FFFFFF"/>
                </a:solidFill>
                <a:latin typeface="Arial"/>
              </a:rPr>
              <a:t>59y female on 22U evening basal insulin + sulfonylurea, 14y T2D duration, high hypoglycemia vulnerability.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EF4444"/>
                </a:solidFill>
                <a:latin typeface="Arial"/>
              </a:rPr>
              <a:t>• Autonomic Signal at 02:30 AM: </a:t>
            </a:r>
            <a:r>
              <a:rPr sz="1200">
                <a:solidFill>
                  <a:srgbClr val="FFFFFF"/>
                </a:solidFill>
                <a:latin typeface="Arial"/>
              </a:rPr>
              <a:t>Current glucose 92 mg/dL, but HRV RMSSD plunges to 14ms (sympathetic counter-regulatory surge).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EF4444"/>
                </a:solidFill>
                <a:latin typeface="Arial"/>
              </a:rPr>
              <a:t>• Critical 2h Forecast: </a:t>
            </a:r>
            <a:r>
              <a:rPr sz="1200">
                <a:solidFill>
                  <a:srgbClr val="FFFFFF"/>
                </a:solidFill>
                <a:latin typeface="Arial"/>
              </a:rPr>
              <a:t>Digital Twin flags impending crash to 61 mg/dL at 04:30 AM (Critical Red Alert).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EF4444"/>
                </a:solidFill>
                <a:latin typeface="Arial"/>
              </a:rPr>
              <a:t>• In-Silico Outcome: </a:t>
            </a:r>
            <a:r>
              <a:rPr sz="1200">
                <a:solidFill>
                  <a:srgbClr val="FFFFFF"/>
                </a:solidFill>
                <a:latin typeface="Arial"/>
              </a:rPr>
              <a:t>Doctor simulates -3U evening basal titration + bedtime complex snack -&gt; Crash averted (morning glucose 108 mg/dL).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108960" cy="329184"/>
          </a:xfrm>
          <a:prstGeom prst="round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48CAE4"/>
                </a:solidFill>
                <a:latin typeface="Arial"/>
              </a:defRPr>
            </a:pPr>
            <a:r>
              <a:t>USER INTERFACE &amp;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rial"/>
              </a:defRPr>
            </a:pPr>
            <a:r>
              <a:t>Clinician Digital Twin Cockpit UI &amp; Tour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8D99AE"/>
                </a:solidFill>
                <a:latin typeface="Arial"/>
              </a:defRPr>
            </a:pPr>
            <a:r>
              <a:t>GlycoTwin-AI  |  Happiest Health Summit 2026, Bengaluru  |  Slide 8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663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4709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48CAE4"/>
                </a:solidFill>
                <a:latin typeface="Arial"/>
              </a:defRPr>
            </a:pPr>
            <a:r>
              <a:t>Glassmorphic Web Dashboard (FastAPI + Chart.js)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4709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48CAE4"/>
                </a:solidFill>
                <a:latin typeface="Arial"/>
              </a:rPr>
              <a:t>• Virtual Patient Selector: </a:t>
            </a:r>
            <a:r>
              <a:rPr sz="1200">
                <a:solidFill>
                  <a:srgbClr val="FFFFFF"/>
                </a:solidFill>
                <a:latin typeface="Arial"/>
              </a:rPr>
              <a:t>Instantly switch across clinical personas (Hyper-prone, Hypo-prone, Controlled).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48CAE4"/>
                </a:solidFill>
                <a:latin typeface="Arial"/>
              </a:rPr>
              <a:t>• 4-Pillar Clinical Metric Bar: </a:t>
            </a:r>
            <a:r>
              <a:rPr sz="1200">
                <a:solidFill>
                  <a:srgbClr val="FFFFFF"/>
                </a:solidFill>
                <a:latin typeface="Arial"/>
              </a:rPr>
              <a:t>Current CGM, 2-Hour Forecast, Autonomic Stress Index (HR/HRV), and Time-in-Range (TIR).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48CAE4"/>
                </a:solidFill>
                <a:latin typeface="Arial"/>
              </a:rPr>
              <a:t>• Dual Synchronized Waveforms: </a:t>
            </a:r>
            <a:r>
              <a:rPr sz="1200">
                <a:solidFill>
                  <a:srgbClr val="FFFFFF"/>
                </a:solidFill>
                <a:latin typeface="Arial"/>
              </a:rPr>
              <a:t>6h continuous CGM + 2h forecast band alongside continuous HR, HRV, steps, &amp; meals.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48CAE4"/>
                </a:solidFill>
                <a:latin typeface="Arial"/>
              </a:rPr>
              <a:t>• Explainable AI (XAI) Drawer: </a:t>
            </a:r>
            <a:r>
              <a:rPr sz="1200">
                <a:solidFill>
                  <a:srgbClr val="FFFFFF"/>
                </a:solidFill>
                <a:latin typeface="Arial"/>
              </a:rPr>
              <a:t>Physiological root-cause attributions directly aligned with RSSDI &amp; ADA guidelines.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54480"/>
            <a:ext cx="51663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19072"/>
            <a:ext cx="4709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D166"/>
                </a:solidFill>
                <a:latin typeface="Arial"/>
              </a:defRPr>
            </a:pPr>
            <a:r>
              <a:t>Automated AI Presentation Mode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48840"/>
            <a:ext cx="4709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Teleprompter Subtitle HUD: </a:t>
            </a:r>
            <a:r>
              <a:rPr sz="1200">
                <a:solidFill>
                  <a:srgbClr val="FFFFFF"/>
                </a:solidFill>
                <a:latin typeface="Arial"/>
              </a:rPr>
              <a:t>Floating presenter bar at the bottom displaying formatted, step-by-step clinical explanations.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Automated UI Interactivity: </a:t>
            </a:r>
            <a:r>
              <a:rPr sz="1200">
                <a:solidFill>
                  <a:srgbClr val="FFFFFF"/>
                </a:solidFill>
                <a:latin typeface="Arial"/>
              </a:rPr>
              <a:t>Auto-selects patients, smooth-scrolls to charts, and auto-animates sliders during recording.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Optional AI Voiceover: </a:t>
            </a:r>
            <a:r>
              <a:rPr sz="1200">
                <a:solidFill>
                  <a:srgbClr val="FFFFFF"/>
                </a:solidFill>
                <a:latin typeface="Arial"/>
              </a:rPr>
              <a:t>Built-in speech synthesis reads each slide explanation aloud with natural pacing.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FD166"/>
                </a:solidFill>
                <a:latin typeface="Arial"/>
              </a:rPr>
              <a:t>• Effortless Video Submission: </a:t>
            </a:r>
            <a:r>
              <a:rPr sz="1200">
                <a:solidFill>
                  <a:srgbClr val="FFFFFF"/>
                </a:solidFill>
                <a:latin typeface="Arial"/>
              </a:rPr>
              <a:t>Start screen record, click 'Start AI Guided Tour', and the prototype presents itself for 20 minutes!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828031" cy="329184"/>
          </a:xfrm>
          <a:prstGeom prst="round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48CAE4"/>
                </a:solidFill>
                <a:latin typeface="Arial"/>
              </a:defRPr>
            </a:pPr>
            <a:r>
              <a:t>REGULATORY COMPLIANCE &amp; SOCIOECONOMIC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rial"/>
              </a:defRPr>
            </a:pPr>
            <a:r>
              <a:t>DPDP Act 2023 Compliance &amp; Indian Healthcare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8D99AE"/>
                </a:solidFill>
                <a:latin typeface="Arial"/>
              </a:defRPr>
            </a:pPr>
            <a:r>
              <a:t>GlycoTwin-AI  |  Happiest Health Summit 2026, Bengaluru  |  Slide 9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663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4709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06D6A0"/>
                </a:solidFill>
                <a:latin typeface="Arial"/>
              </a:defRPr>
            </a:pPr>
            <a:r>
              <a:t>Indian DPDP Act 2023 &amp; HIPAA Compliance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4709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06D6A0"/>
                </a:solidFill>
                <a:latin typeface="Arial"/>
              </a:rPr>
              <a:t>• 100% Synthetic Patient Data: </a:t>
            </a:r>
            <a:r>
              <a:rPr sz="1200">
                <a:solidFill>
                  <a:srgbClr val="FFFFFF"/>
                </a:solidFill>
                <a:latin typeface="Arial"/>
              </a:rPr>
              <a:t>Synthea &amp; MIMIC-IV clinical schemas calibrated to ICMR-INDIAB epidemiological metrics.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6D6A0"/>
                </a:solidFill>
                <a:latin typeface="Arial"/>
              </a:rPr>
              <a:t>• Zero Real Patient PII: </a:t>
            </a:r>
            <a:r>
              <a:rPr sz="1200">
                <a:solidFill>
                  <a:srgbClr val="FFFFFF"/>
                </a:solidFill>
                <a:latin typeface="Arial"/>
              </a:rPr>
              <a:t>Synthetic identities (IND-PT-XXXXX) eliminate privacy and re-identification risks.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6D6A0"/>
                </a:solidFill>
                <a:latin typeface="Arial"/>
              </a:rPr>
              <a:t>• Patient-Level Isolation: </a:t>
            </a:r>
            <a:r>
              <a:rPr sz="1200">
                <a:solidFill>
                  <a:srgbClr val="FFFFFF"/>
                </a:solidFill>
                <a:latin typeface="Arial"/>
              </a:rPr>
              <a:t>Complete separation between train and test patients eliminates data memorization.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6D6A0"/>
                </a:solidFill>
                <a:latin typeface="Arial"/>
              </a:rPr>
              <a:t>• Cryptographic Audit Trail: </a:t>
            </a:r>
            <a:r>
              <a:rPr sz="1200">
                <a:solidFill>
                  <a:srgbClr val="FFFFFF"/>
                </a:solidFill>
                <a:latin typeface="Arial"/>
              </a:rPr>
              <a:t>Every in-silico simulation and decision recommendation is timestamped and cryptographically logged.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54480"/>
            <a:ext cx="51663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19072"/>
            <a:ext cx="4709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48CAE4"/>
                </a:solidFill>
                <a:latin typeface="Arial"/>
              </a:defRPr>
            </a:pPr>
            <a:r>
              <a:t>Socioeconomic Impact &amp; ABDM Roadmap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48840"/>
            <a:ext cx="4709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48CAE4"/>
                </a:solidFill>
                <a:latin typeface="Arial"/>
              </a:rPr>
              <a:t>• Avoids Hospital Admissions: </a:t>
            </a:r>
            <a:r>
              <a:rPr sz="1200">
                <a:solidFill>
                  <a:srgbClr val="FFFFFF"/>
                </a:solidFill>
                <a:latin typeface="Arial"/>
              </a:rPr>
              <a:t>Saves families ₹40,000 to ₹1,50,000 per DKA or severe hypoglycemia emergency hospital stay.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48CAE4"/>
                </a:solidFill>
                <a:latin typeface="Arial"/>
              </a:rPr>
              <a:t>• 37% Microvascular Risk Cut: </a:t>
            </a:r>
            <a:r>
              <a:rPr sz="1200">
                <a:solidFill>
                  <a:srgbClr val="FFFFFF"/>
                </a:solidFill>
                <a:latin typeface="Arial"/>
              </a:rPr>
              <a:t>Blunting glucose spikes reduces HbA1c by 0.8-1.2%, cutting kidney disease and retinopathy risk by 37%.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48CAE4"/>
                </a:solidFill>
                <a:latin typeface="Arial"/>
              </a:rPr>
              <a:t>• ABDM Integration Roadmap: </a:t>
            </a:r>
            <a:r>
              <a:rPr sz="1200">
                <a:solidFill>
                  <a:srgbClr val="FFFFFF"/>
                </a:solidFill>
                <a:latin typeface="Arial"/>
              </a:rPr>
              <a:t>Standardized FHIR APIs designed for Ayushman Bharat Digital Mission and e-Sanjeevani networks.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48CAE4"/>
                </a:solidFill>
                <a:latin typeface="Arial"/>
              </a:rPr>
              <a:t>• Edge AI Mobile App: </a:t>
            </a:r>
            <a:r>
              <a:rPr sz="1200">
                <a:solidFill>
                  <a:srgbClr val="FFFFFF"/>
                </a:solidFill>
                <a:latin typeface="Arial"/>
              </a:rPr>
              <a:t>Proactive smartphone nudges ('Take a 15-min walk now') democratizing digital twin care across India.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059935" cy="329184"/>
          </a:xfrm>
          <a:prstGeom prst="round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48CAE4"/>
                </a:solidFill>
                <a:latin typeface="Arial"/>
              </a:defRPr>
            </a:pPr>
            <a:r>
              <a:t>SUMMIT SUMMARY &amp; OPEN SOURCE CODEBASE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Arial"/>
              </a:defRPr>
            </a:pPr>
            <a:r>
              <a:t>Conclusion: Reimagining Healthcare in India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8D99AE"/>
                </a:solidFill>
                <a:latin typeface="Arial"/>
              </a:defRPr>
            </a:pPr>
            <a:r>
              <a:t>GlycoTwin-AI  |  Happiest Health Summit 2026, Bengaluru  |  Slide 10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3375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2880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48CAE4"/>
                </a:solidFill>
                <a:latin typeface="Arial"/>
              </a:defRPr>
            </a:pPr>
            <a:r>
              <a:t>Key Breakthroughs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2971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50">
                <a:solidFill>
                  <a:srgbClr val="48CAE4"/>
                </a:solidFill>
                <a:latin typeface="Arial"/>
              </a:rPr>
              <a:t>• Priority Condition Solved: </a:t>
            </a:r>
            <a:r>
              <a:rPr sz="1150">
                <a:solidFill>
                  <a:srgbClr val="FFFFFF"/>
                </a:solidFill>
                <a:latin typeface="Arial"/>
              </a:rPr>
              <a:t>End-to-end Digital Twin for Type 2 Diabetes in Asian Indian cohorts.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48CAE4"/>
                </a:solidFill>
                <a:latin typeface="Arial"/>
              </a:rPr>
              <a:t>• Dual Stream Fusion: </a:t>
            </a:r>
            <a:r>
              <a:rPr sz="1150">
                <a:solidFill>
                  <a:srgbClr val="FFFFFF"/>
                </a:solidFill>
                <a:latin typeface="Arial"/>
              </a:rPr>
              <a:t>Seamlessly unites static EHR with continuous wearable IoT telemetry.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48CAE4"/>
                </a:solidFill>
                <a:latin typeface="Arial"/>
              </a:rPr>
              <a:t>• Clinical Accuracy: </a:t>
            </a:r>
            <a:r>
              <a:rPr sz="1150">
                <a:solidFill>
                  <a:srgbClr val="FFFFFF"/>
                </a:solidFill>
                <a:latin typeface="Arial"/>
              </a:rPr>
              <a:t>7.15% MARD, 14.50 mg/dL RMSE, and 120-minute early warning.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54480"/>
            <a:ext cx="33375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719072"/>
            <a:ext cx="2880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FFD166"/>
                </a:solidFill>
                <a:latin typeface="Arial"/>
              </a:defRPr>
            </a:pPr>
            <a:r>
              <a:t>Proactive Innovation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48840"/>
            <a:ext cx="2971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50">
                <a:solidFill>
                  <a:srgbClr val="FFD166"/>
                </a:solidFill>
                <a:latin typeface="Arial"/>
              </a:rPr>
              <a:t>• In-Silico What-If Engine: </a:t>
            </a:r>
            <a:r>
              <a:rPr sz="1150">
                <a:solidFill>
                  <a:srgbClr val="FFFFFF"/>
                </a:solidFill>
                <a:latin typeface="Arial"/>
              </a:rPr>
              <a:t>Real-time simulation of walking, carb swaps, and insulin titration.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FD166"/>
                </a:solidFill>
                <a:latin typeface="Arial"/>
              </a:rPr>
              <a:t>• Doctor UI Cockpit: </a:t>
            </a:r>
            <a:r>
              <a:rPr sz="1150">
                <a:solidFill>
                  <a:srgbClr val="FFFFFF"/>
                </a:solidFill>
                <a:latin typeface="Arial"/>
              </a:rPr>
              <a:t>Production-ready web app with automated AI presentation tour mode.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FD166"/>
                </a:solidFill>
                <a:latin typeface="Arial"/>
              </a:rPr>
              <a:t>• DPDP Act Compliant: </a:t>
            </a:r>
            <a:r>
              <a:rPr sz="1150">
                <a:solidFill>
                  <a:srgbClr val="FFFFFF"/>
                </a:solidFill>
                <a:latin typeface="Arial"/>
              </a:rPr>
              <a:t>Zero PII risk with rigorous open-source reproducible pipeline.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54480"/>
            <a:ext cx="3337560" cy="45720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719072"/>
            <a:ext cx="2880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06D6A0"/>
                </a:solidFill>
                <a:latin typeface="Arial"/>
              </a:defRPr>
            </a:pPr>
            <a:r>
              <a:t>Deliverables 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48840"/>
            <a:ext cx="2971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50">
                <a:solidFill>
                  <a:srgbClr val="06D6A0"/>
                </a:solidFill>
                <a:latin typeface="Arial"/>
              </a:rPr>
              <a:t>• Public GitHub Repo: </a:t>
            </a:r>
            <a:r>
              <a:rPr sz="1150">
                <a:solidFill>
                  <a:srgbClr val="FFFFFF"/>
                </a:solidFill>
                <a:latin typeface="Arial"/>
              </a:rPr>
              <a:t>Complete code, models, tests, datasets, and MIT License on Desktop.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6D6A0"/>
                </a:solidFill>
                <a:latin typeface="Arial"/>
              </a:rPr>
              <a:t>• Presentation Deck: </a:t>
            </a:r>
            <a:r>
              <a:rPr sz="1150">
                <a:solidFill>
                  <a:srgbClr val="FFFFFF"/>
                </a:solidFill>
                <a:latin typeface="Arial"/>
              </a:rPr>
              <a:t>Native 16:9 widescreen PowerPoint (.pptx) and PDF formats.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6D6A0"/>
                </a:solidFill>
                <a:latin typeface="Arial"/>
              </a:rPr>
              <a:t>• Architecture Diagram: </a:t>
            </a:r>
            <a:r>
              <a:rPr sz="1150">
                <a:solidFill>
                  <a:srgbClr val="FFFFFF"/>
                </a:solidFill>
                <a:latin typeface="Arial"/>
              </a:rPr>
              <a:t>Publication-grade vector PDF, PPTX, and SVG diagrams.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